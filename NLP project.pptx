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DM Sans Light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79F0BF-7ABB-47FC-AF29-906C8C5E214F}">
  <a:tblStyle styleId="{A079F0BF-7ABB-47FC-AF29-906C8C5E214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DMSansLight-regular.fntdata"/><Relationship Id="rId21" Type="http://schemas.openxmlformats.org/officeDocument/2006/relationships/slide" Target="slides/slide15.xml"/><Relationship Id="rId24" Type="http://schemas.openxmlformats.org/officeDocument/2006/relationships/font" Target="fonts/DMSansLight-italic.fntdata"/><Relationship Id="rId23" Type="http://schemas.openxmlformats.org/officeDocument/2006/relationships/font" Target="fonts/DMSans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regular.fntdata"/><Relationship Id="rId25" Type="http://schemas.openxmlformats.org/officeDocument/2006/relationships/font" Target="fonts/DMSansLight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.fntdata"/><Relationship Id="rId30" Type="http://schemas.openxmlformats.org/officeDocument/2006/relationships/font" Target="fonts/DMSans-regular.fntdata"/><Relationship Id="rId11" Type="http://schemas.openxmlformats.org/officeDocument/2006/relationships/slide" Target="slides/slide5.xml"/><Relationship Id="rId33" Type="http://schemas.openxmlformats.org/officeDocument/2006/relationships/font" Target="fonts/DMSans-boldItalic.fntdata"/><Relationship Id="rId10" Type="http://schemas.openxmlformats.org/officeDocument/2006/relationships/slide" Target="slides/slide4.xml"/><Relationship Id="rId32" Type="http://schemas.openxmlformats.org/officeDocument/2006/relationships/font" Target="fonts/DM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bfdd4d8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cbfdd4d85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bfdd4d8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cbfdd4d85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bfdd4d85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bfdd4d85a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bfdd4d85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bfdd4d85a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bfdd4d85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bfdd4d85a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bfdd4d85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bfdd4d85a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bfdd4d85a_0_41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bfdd4d85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bfdd4d85a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bfdd4d85a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bfdd4d85a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bfdd4d85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bfdd4d85a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bfdd4d85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cbfdd4d85a_0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bfdd4d85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cbfdd4d85a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bfdd4d85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cbfdd4d85a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bfdd4d85a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cbfdd4d85a_0_2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cbfdd4d85a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cbfdd4d85a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30.png"/><Relationship Id="rId7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huggingface.co/datasets/theatticusproject/cuad" TargetMode="External"/><Relationship Id="rId4" Type="http://schemas.openxmlformats.org/officeDocument/2006/relationships/hyperlink" Target="https://huggingface.co/datasets/theatticusproject/cuad" TargetMode="External"/><Relationship Id="rId5" Type="http://schemas.openxmlformats.org/officeDocument/2006/relationships/hyperlink" Target="https://huggingface.co/datasets/allenai/multi_lexsum" TargetMode="External"/><Relationship Id="rId6" Type="http://schemas.openxmlformats.org/officeDocument/2006/relationships/hyperlink" Target="https://huggingface.co/datasets/allenai/multi_lexsum" TargetMode="External"/><Relationship Id="rId7" Type="http://schemas.openxmlformats.org/officeDocument/2006/relationships/hyperlink" Target="https://huggingface.co/datasets/FiscalNote/billsum" TargetMode="External"/><Relationship Id="rId8" Type="http://schemas.openxmlformats.org/officeDocument/2006/relationships/hyperlink" Target="https://huggingface.co/datasets/FiscalNote/billsu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7358063" y="3357563"/>
            <a:ext cx="2143200" cy="2143200"/>
          </a:xfrm>
          <a:prstGeom prst="roundRect">
            <a:avLst>
              <a:gd fmla="val 50000" name="adj"/>
            </a:avLst>
          </a:prstGeom>
          <a:solidFill>
            <a:srgbClr val="0A234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705551" y="1422825"/>
            <a:ext cx="6739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Legal Document</a:t>
            </a:r>
            <a:endParaRPr b="1" i="0" sz="3000" u="none" cap="none" strike="noStrike">
              <a:solidFill>
                <a:srgbClr val="0A23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 Summarization and QA System</a:t>
            </a:r>
            <a:endParaRPr sz="1100"/>
          </a:p>
        </p:txBody>
      </p:sp>
      <p:cxnSp>
        <p:nvCxnSpPr>
          <p:cNvPr id="61" name="Google Shape;61;p14"/>
          <p:cNvCxnSpPr/>
          <p:nvPr/>
        </p:nvCxnSpPr>
        <p:spPr>
          <a:xfrm>
            <a:off x="522825" y="1392225"/>
            <a:ext cx="0" cy="1129800"/>
          </a:xfrm>
          <a:prstGeom prst="straightConnector1">
            <a:avLst/>
          </a:prstGeom>
          <a:noFill/>
          <a:ln cap="flat" cmpd="sng" w="1143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4"/>
          <p:cNvCxnSpPr/>
          <p:nvPr/>
        </p:nvCxnSpPr>
        <p:spPr>
          <a:xfrm flipH="1" rot="10800000">
            <a:off x="450250" y="2897200"/>
            <a:ext cx="83265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875" y="1453753"/>
            <a:ext cx="4000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The Legal Context Problem</a:t>
            </a:r>
            <a:endParaRPr sz="1100"/>
          </a:p>
        </p:txBody>
      </p:sp>
      <p:sp>
        <p:nvSpPr>
          <p:cNvPr id="70" name="Google Shape;70;p15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28625" y="1678112"/>
            <a:ext cx="4000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Legal documents pose significant accessibility barriers:</a:t>
            </a:r>
            <a:endParaRPr sz="1100"/>
          </a:p>
        </p:txBody>
      </p:sp>
      <p:sp>
        <p:nvSpPr>
          <p:cNvPr id="72" name="Google Shape;72;p15"/>
          <p:cNvSpPr txBox="1"/>
          <p:nvPr/>
        </p:nvSpPr>
        <p:spPr>
          <a:xfrm>
            <a:off x="428625" y="3675347"/>
            <a:ext cx="40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system that provides concise summaries and grounded answers to natural language questions.</a:t>
            </a:r>
            <a:endParaRPr sz="1100"/>
          </a:p>
        </p:txBody>
      </p:sp>
      <p:pic>
        <p:nvPicPr>
          <p:cNvPr descr="image.png" id="73" name="Google Shape;7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875" y="1453753"/>
            <a:ext cx="4000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714375" y="2012417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Extensive Length: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Often spanning 10 to over 100 pages per case.</a:t>
            </a:r>
            <a:endParaRPr sz="1100"/>
          </a:p>
        </p:txBody>
      </p:sp>
      <p:sp>
        <p:nvSpPr>
          <p:cNvPr id="75" name="Google Shape;75;p15"/>
          <p:cNvSpPr txBox="1"/>
          <p:nvPr/>
        </p:nvSpPr>
        <p:spPr>
          <a:xfrm>
            <a:off x="714375" y="2566727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Dense Legalese: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Complex terminology and archaic syntax structures.</a:t>
            </a:r>
            <a:endParaRPr sz="1100"/>
          </a:p>
        </p:txBody>
      </p:sp>
      <p:sp>
        <p:nvSpPr>
          <p:cNvPr id="76" name="Google Shape;76;p15"/>
          <p:cNvSpPr txBox="1"/>
          <p:nvPr/>
        </p:nvSpPr>
        <p:spPr>
          <a:xfrm>
            <a:off x="714375" y="3121037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Information Sifting: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Critical facts are buried deep within textual noise.</a:t>
            </a:r>
            <a:endParaRPr sz="1100"/>
          </a:p>
        </p:txBody>
      </p:sp>
      <p:pic>
        <p:nvPicPr>
          <p:cNvPr descr="image.png" id="77" name="Google Shape;7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2044563"/>
            <a:ext cx="107156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" name="Google Shape;7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" y="2598874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" name="Google Shape;7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8625" y="3153184"/>
            <a:ext cx="142875" cy="150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/>
        </p:nvSpPr>
        <p:spPr>
          <a:xfrm>
            <a:off x="571500" y="428625"/>
            <a:ext cx="375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Proposed System Architecture</a:t>
            </a:r>
            <a:endParaRPr sz="1100"/>
          </a:p>
        </p:txBody>
      </p:sp>
      <p:sp>
        <p:nvSpPr>
          <p:cNvPr id="85" name="Google Shape;85;p16"/>
          <p:cNvSpPr/>
          <p:nvPr/>
        </p:nvSpPr>
        <p:spPr>
          <a:xfrm>
            <a:off x="428625" y="428625"/>
            <a:ext cx="42900" cy="671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28625" y="2116675"/>
            <a:ext cx="5516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three-tier pipeline designed for modular efficiency:</a:t>
            </a:r>
            <a:endParaRPr sz="1700"/>
          </a:p>
        </p:txBody>
      </p:sp>
      <p:sp>
        <p:nvSpPr>
          <p:cNvPr id="87" name="Google Shape;87;p16"/>
          <p:cNvSpPr txBox="1"/>
          <p:nvPr/>
        </p:nvSpPr>
        <p:spPr>
          <a:xfrm>
            <a:off x="714375" y="2513000"/>
            <a:ext cx="506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Preprocessing:</a:t>
            </a:r>
            <a:r>
              <a:rPr b="0" i="0" lang="en" sz="13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Text extraction and structure detection.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714375" y="2877300"/>
            <a:ext cx="443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Summarization:</a:t>
            </a:r>
            <a:r>
              <a:rPr b="0" i="0" lang="en" sz="13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Two-stage (Extractive + Neural) module.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714375" y="3225900"/>
            <a:ext cx="4576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QA Module:</a:t>
            </a:r>
            <a:r>
              <a:rPr b="0" i="0" lang="en" sz="13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Retrieval-based extractive answering.</a:t>
            </a:r>
            <a:endParaRPr/>
          </a:p>
        </p:txBody>
      </p:sp>
      <p:pic>
        <p:nvPicPr>
          <p:cNvPr descr="image.png"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2545135"/>
            <a:ext cx="178594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6"/>
          <p:cNvPicPr preferRelativeResize="0"/>
          <p:nvPr/>
        </p:nvPicPr>
        <p:blipFill rotWithShape="1">
          <a:blip r:embed="rId4">
            <a:alphaModFix/>
          </a:blip>
          <a:srcRect b="94725" l="0" r="0" t="0"/>
          <a:stretch/>
        </p:blipFill>
        <p:spPr>
          <a:xfrm>
            <a:off x="0" y="-12"/>
            <a:ext cx="9144000" cy="27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909453"/>
            <a:ext cx="128588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258045"/>
            <a:ext cx="142875" cy="150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1: Document Preprocessing</a:t>
            </a:r>
            <a:endParaRPr sz="1100"/>
          </a:p>
        </p:txBody>
      </p:sp>
      <p:sp>
        <p:nvSpPr>
          <p:cNvPr id="99" name="Google Shape;99;p17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1000200" y="2089513"/>
            <a:ext cx="81438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Text Extraction &amp; Cleaning:</a:t>
            </a:r>
            <a:r>
              <a:rPr b="0" i="0" lang="en" sz="13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Robust PDF parsing followed by removal of headers, footers, and redundant case citations.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1000125" y="2763310"/>
            <a:ext cx="771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Structure Exploitation: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Pattern-based detection of standard legal sections: </a:t>
            </a:r>
            <a:r>
              <a:rPr b="0" i="1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FACTS, ARGUMENTS, JUDGMENT, ORDER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00"/>
          </a:p>
        </p:txBody>
      </p:sp>
      <p:sp>
        <p:nvSpPr>
          <p:cNvPr id="102" name="Google Shape;102;p17"/>
          <p:cNvSpPr txBox="1"/>
          <p:nvPr/>
        </p:nvSpPr>
        <p:spPr>
          <a:xfrm>
            <a:off x="1000125" y="3451845"/>
            <a:ext cx="771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Why this matters:</a:t>
            </a:r>
            <a:r>
              <a:rPr b="0" i="0" lang="en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Legal documents follow a predictable semantic structure; exploiting it reduces noise and improves context.</a:t>
            </a:r>
            <a:endParaRPr sz="1300"/>
          </a:p>
        </p:txBody>
      </p:sp>
      <p:pic>
        <p:nvPicPr>
          <p:cNvPr descr="image.png"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2274614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2795457"/>
            <a:ext cx="164306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225" y="3451843"/>
            <a:ext cx="178594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7"/>
          <p:cNvPicPr preferRelativeResize="0"/>
          <p:nvPr/>
        </p:nvPicPr>
        <p:blipFill rotWithShape="1">
          <a:blip r:embed="rId6">
            <a:alphaModFix/>
          </a:blip>
          <a:srcRect b="94821" l="0" r="0" t="0"/>
          <a:stretch/>
        </p:blipFill>
        <p:spPr>
          <a:xfrm>
            <a:off x="0" y="0"/>
            <a:ext cx="9144000" cy="2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8"/>
          <p:cNvPicPr preferRelativeResize="0"/>
          <p:nvPr/>
        </p:nvPicPr>
        <p:blipFill rotWithShape="1">
          <a:blip r:embed="rId3">
            <a:alphaModFix/>
          </a:blip>
          <a:srcRect b="0" l="160" r="-160" t="0"/>
          <a:stretch/>
        </p:blipFill>
        <p:spPr>
          <a:xfrm>
            <a:off x="0" y="-2871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838846"/>
            <a:ext cx="4000500" cy="1538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875" y="1838846"/>
            <a:ext cx="4000500" cy="153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2: </a:t>
            </a: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Summarization Module Overview</a:t>
            </a:r>
            <a:endParaRPr sz="1100"/>
          </a:p>
        </p:txBody>
      </p:sp>
      <p:sp>
        <p:nvSpPr>
          <p:cNvPr id="115" name="Google Shape;115;p18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650081" y="2064089"/>
            <a:ext cx="373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Extractive Baseline</a:t>
            </a:r>
            <a:endParaRPr sz="1100"/>
          </a:p>
        </p:txBody>
      </p:sp>
      <p:sp>
        <p:nvSpPr>
          <p:cNvPr id="117" name="Google Shape;117;p18"/>
          <p:cNvSpPr txBox="1"/>
          <p:nvPr/>
        </p:nvSpPr>
        <p:spPr>
          <a:xfrm>
            <a:off x="650081" y="2410346"/>
            <a:ext cx="355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Uses </a:t>
            </a:r>
            <a:r>
              <a:rPr b="1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TextRank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algorithm. Sentences are nodes in a similarity graph. Top-ranked nodes form the summary. Stable and interpretable.</a:t>
            </a:r>
            <a:endParaRPr sz="1100"/>
          </a:p>
        </p:txBody>
      </p:sp>
      <p:sp>
        <p:nvSpPr>
          <p:cNvPr id="118" name="Google Shape;118;p18"/>
          <p:cNvSpPr txBox="1"/>
          <p:nvPr/>
        </p:nvSpPr>
        <p:spPr>
          <a:xfrm>
            <a:off x="4936331" y="2060302"/>
            <a:ext cx="373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Abstractive</a:t>
            </a:r>
            <a:endParaRPr sz="1100"/>
          </a:p>
        </p:txBody>
      </p:sp>
      <p:sp>
        <p:nvSpPr>
          <p:cNvPr id="119" name="Google Shape;119;p18"/>
          <p:cNvSpPr txBox="1"/>
          <p:nvPr/>
        </p:nvSpPr>
        <p:spPr>
          <a:xfrm>
            <a:off x="4936331" y="2410346"/>
            <a:ext cx="355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b="1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BiLSTM + Attention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model. Trained to generate novel sentences by understanding the latent semantics of the context.</a:t>
            </a:r>
            <a:endParaRPr sz="1100"/>
          </a:p>
        </p:txBody>
      </p:sp>
      <p:sp>
        <p:nvSpPr>
          <p:cNvPr id="120" name="Google Shape;120;p18"/>
          <p:cNvSpPr txBox="1"/>
          <p:nvPr/>
        </p:nvSpPr>
        <p:spPr>
          <a:xfrm>
            <a:off x="3520775" y="876775"/>
            <a:ext cx="192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Merriweather"/>
                <a:ea typeface="Merriweather"/>
                <a:cs typeface="Merriweather"/>
                <a:sym typeface="Merriweather"/>
              </a:rPr>
              <a:t>Two Paths</a:t>
            </a:r>
            <a:endParaRPr b="1" sz="180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121" name="Google Shape;121;p18"/>
          <p:cNvCxnSpPr/>
          <p:nvPr/>
        </p:nvCxnSpPr>
        <p:spPr>
          <a:xfrm flipH="1">
            <a:off x="3486350" y="1214450"/>
            <a:ext cx="542100" cy="6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>
            <a:off x="4055125" y="1196700"/>
            <a:ext cx="853200" cy="6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0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Extractive Baseline: TextRank</a:t>
            </a:r>
            <a:endParaRPr sz="1100"/>
          </a:p>
        </p:txBody>
      </p:sp>
      <p:sp>
        <p:nvSpPr>
          <p:cNvPr id="129" name="Google Shape;129;p19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428625" y="2887526"/>
            <a:ext cx="8286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1282973" y="2843540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A2342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383125" y="3018513"/>
            <a:ext cx="191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Vectorization</a:t>
            </a:r>
            <a:endParaRPr sz="1100"/>
          </a:p>
        </p:txBody>
      </p:sp>
      <p:sp>
        <p:nvSpPr>
          <p:cNvPr id="133" name="Google Shape;133;p19"/>
          <p:cNvSpPr txBox="1"/>
          <p:nvPr/>
        </p:nvSpPr>
        <p:spPr>
          <a:xfrm>
            <a:off x="471525" y="3494094"/>
            <a:ext cx="182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Sentences are represented using TF-IDF vectors.</a:t>
            </a:r>
            <a:endParaRPr sz="1100"/>
          </a:p>
        </p:txBody>
      </p:sp>
      <p:sp>
        <p:nvSpPr>
          <p:cNvPr id="134" name="Google Shape;134;p19"/>
          <p:cNvSpPr/>
          <p:nvPr/>
        </p:nvSpPr>
        <p:spPr>
          <a:xfrm>
            <a:off x="3390332" y="283756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A2342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2537635" y="3018513"/>
            <a:ext cx="191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Similarity</a:t>
            </a:r>
            <a:endParaRPr sz="1100"/>
          </a:p>
        </p:txBody>
      </p:sp>
      <p:sp>
        <p:nvSpPr>
          <p:cNvPr id="136" name="Google Shape;136;p19"/>
          <p:cNvSpPr txBox="1"/>
          <p:nvPr/>
        </p:nvSpPr>
        <p:spPr>
          <a:xfrm>
            <a:off x="2604573" y="3494094"/>
            <a:ext cx="182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Build an Adjacency Matrix using Cosine Similarity.</a:t>
            </a:r>
            <a:endParaRPr sz="1100"/>
          </a:p>
        </p:txBody>
      </p:sp>
      <p:sp>
        <p:nvSpPr>
          <p:cNvPr id="137" name="Google Shape;137;p19"/>
          <p:cNvSpPr/>
          <p:nvPr/>
        </p:nvSpPr>
        <p:spPr>
          <a:xfrm>
            <a:off x="5591993" y="283756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A2342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887246" y="3018513"/>
            <a:ext cx="191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PageRank</a:t>
            </a:r>
            <a:endParaRPr sz="1100"/>
          </a:p>
        </p:txBody>
      </p:sp>
      <p:sp>
        <p:nvSpPr>
          <p:cNvPr id="139" name="Google Shape;139;p19"/>
          <p:cNvSpPr txBox="1"/>
          <p:nvPr/>
        </p:nvSpPr>
        <p:spPr>
          <a:xfrm>
            <a:off x="4748345" y="3535919"/>
            <a:ext cx="182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Apply graph-based ranking to identify core nodes.</a:t>
            </a:r>
            <a:endParaRPr sz="1100"/>
          </a:p>
        </p:txBody>
      </p:sp>
      <p:sp>
        <p:nvSpPr>
          <p:cNvPr id="140" name="Google Shape;140;p19"/>
          <p:cNvSpPr/>
          <p:nvPr/>
        </p:nvSpPr>
        <p:spPr>
          <a:xfrm>
            <a:off x="7746528" y="283756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0A2342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6846680" y="3018513"/>
            <a:ext cx="191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Selection</a:t>
            </a:r>
            <a:endParaRPr sz="1100"/>
          </a:p>
        </p:txBody>
      </p:sp>
      <p:sp>
        <p:nvSpPr>
          <p:cNvPr id="142" name="Google Shape;142;p19"/>
          <p:cNvSpPr txBox="1"/>
          <p:nvPr/>
        </p:nvSpPr>
        <p:spPr>
          <a:xfrm>
            <a:off x="6801256" y="3535919"/>
            <a:ext cx="182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Extract top-k sentences based on centrality.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TextRank ?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minimal computational resources compared to neural models.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training data needed, works on any legal document immediately.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a solid reference point for measuring neural model improvement.</a:t>
            </a:r>
            <a:endParaRPr/>
          </a:p>
        </p:txBody>
      </p:sp>
      <p:pic>
        <p:nvPicPr>
          <p:cNvPr id="148" name="Google Shape;148;p2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Abstractive Model</a:t>
            </a:r>
            <a:endParaRPr sz="1100"/>
          </a:p>
        </p:txBody>
      </p:sp>
      <p:sp>
        <p:nvSpPr>
          <p:cNvPr id="154" name="Google Shape;154;p21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5667400" y="1676842"/>
            <a:ext cx="420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BiLSTM + Attention</a:t>
            </a:r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5667300" y="2571750"/>
            <a:ext cx="34554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Encoder:</a:t>
            </a:r>
            <a:r>
              <a:rPr b="0" i="0" lang="en" sz="13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Bidirectional LSTM captures long-term dependencies in both directions.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5667300" y="3173111"/>
            <a:ext cx="34554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Attention:</a:t>
            </a:r>
            <a:r>
              <a:rPr b="0" i="0" lang="en" sz="13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Mechanism calculates weights over encoder states to focus on relevant context.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5667300" y="4094549"/>
            <a:ext cx="34554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Decoder:</a:t>
            </a:r>
            <a:r>
              <a:rPr b="0" i="0" lang="en" sz="13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Generates summary token-by-token from a scratch-trained embedding space.</a:t>
            </a:r>
            <a:endParaRPr/>
          </a:p>
        </p:txBody>
      </p:sp>
      <p:pic>
        <p:nvPicPr>
          <p:cNvPr descr="image.png" id="159" name="Google Shape;159;p21"/>
          <p:cNvPicPr preferRelativeResize="0"/>
          <p:nvPr/>
        </p:nvPicPr>
        <p:blipFill rotWithShape="1">
          <a:blip r:embed="rId3">
            <a:alphaModFix/>
          </a:blip>
          <a:srcRect b="93473" l="0" r="0" t="0"/>
          <a:stretch/>
        </p:blipFill>
        <p:spPr>
          <a:xfrm>
            <a:off x="0" y="0"/>
            <a:ext cx="9144000" cy="33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1"/>
          <p:cNvPicPr preferRelativeResize="0"/>
          <p:nvPr/>
        </p:nvPicPr>
        <p:blipFill rotWithShape="1">
          <a:blip r:embed="rId4">
            <a:alphaModFix/>
          </a:blip>
          <a:srcRect b="6385" l="838" r="2898" t="0"/>
          <a:stretch/>
        </p:blipFill>
        <p:spPr>
          <a:xfrm>
            <a:off x="0" y="1200625"/>
            <a:ext cx="5455726" cy="256705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161" name="Google Shape;161;p21"/>
          <p:cNvSpPr txBox="1"/>
          <p:nvPr/>
        </p:nvSpPr>
        <p:spPr>
          <a:xfrm>
            <a:off x="5526175" y="1927050"/>
            <a:ext cx="31191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Embedding </a:t>
            </a:r>
            <a:r>
              <a:rPr lang="en" sz="13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: </a:t>
            </a:r>
            <a:r>
              <a:rPr lang="en" sz="13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rPr>
              <a:t>Embedding layer trained from scratch on legal corpus</a:t>
            </a:r>
            <a:endParaRPr sz="1800">
              <a:solidFill>
                <a:schemeClr val="dk2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00" y="0"/>
            <a:ext cx="8516523" cy="41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329275" y="4131600"/>
            <a:ext cx="77283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Plain English Conversion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sequence to sequence model that translates legal language into simple, user friendly English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75" y="1147375"/>
            <a:ext cx="4000500" cy="211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925" y="1147375"/>
            <a:ext cx="4000500" cy="211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3: </a:t>
            </a: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The Question Answering Module</a:t>
            </a:r>
            <a:endParaRPr sz="1100"/>
          </a:p>
        </p:txBody>
      </p:sp>
      <p:sp>
        <p:nvSpPr>
          <p:cNvPr id="175" name="Google Shape;175;p23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131" y="1287694"/>
            <a:ext cx="3557588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650081" y="1620719"/>
            <a:ext cx="373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Stage 1: Retrieval</a:t>
            </a:r>
            <a:endParaRPr sz="1100"/>
          </a:p>
        </p:txBody>
      </p:sp>
      <p:sp>
        <p:nvSpPr>
          <p:cNvPr id="178" name="Google Shape;178;p23"/>
          <p:cNvSpPr txBox="1"/>
          <p:nvPr/>
        </p:nvSpPr>
        <p:spPr>
          <a:xfrm>
            <a:off x="650081" y="1986263"/>
            <a:ext cx="355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Encodes both the user's question and document chunks into vector embeddings and computes similarity scores to retrieve the top-k most relevant chunks. These candidate chunks are then passed to the answer prediction model.</a:t>
            </a:r>
            <a:endParaRPr sz="10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179" name="Google Shape;17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36381" y="1287694"/>
            <a:ext cx="3557588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/>
        </p:nvSpPr>
        <p:spPr>
          <a:xfrm>
            <a:off x="4847381" y="1620719"/>
            <a:ext cx="373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Stage 2: Prediction</a:t>
            </a:r>
            <a:endParaRPr sz="1100"/>
          </a:p>
        </p:txBody>
      </p:sp>
      <p:sp>
        <p:nvSpPr>
          <p:cNvPr id="181" name="Google Shape;181;p23"/>
          <p:cNvSpPr txBox="1"/>
          <p:nvPr/>
        </p:nvSpPr>
        <p:spPr>
          <a:xfrm>
            <a:off x="4847375" y="1986275"/>
            <a:ext cx="3557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For answer prediction we will either use a BiLSTM with attention to model the interactions between the question and retrieved chunks or we will use a lightweight Transformer encoder to encode the question and chunks and predict the start and end positions of the answer span in the text.</a:t>
            </a:r>
            <a:endParaRPr sz="10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182" name="Google Shape;1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75" y="3443475"/>
            <a:ext cx="4000500" cy="147875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598531" y="3592569"/>
            <a:ext cx="373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Stage </a:t>
            </a:r>
            <a:r>
              <a:rPr b="1" lang="en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3: Answer Generation</a:t>
            </a:r>
            <a:endParaRPr sz="1100"/>
          </a:p>
        </p:txBody>
      </p:sp>
      <p:sp>
        <p:nvSpPr>
          <p:cNvPr id="184" name="Google Shape;184;p23"/>
          <p:cNvSpPr txBox="1"/>
          <p:nvPr/>
        </p:nvSpPr>
        <p:spPr>
          <a:xfrm>
            <a:off x="598531" y="3906413"/>
            <a:ext cx="355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BiLSTM encoder–decoder with attention produces natural responses from the extracted evidence, while a pointer mechanism copies critical legal terms directly from the document to preserve precision.</a:t>
            </a:r>
            <a:endParaRPr sz="10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.png" id="185" name="Google Shape;185;p23"/>
          <p:cNvPicPr preferRelativeResize="0"/>
          <p:nvPr/>
        </p:nvPicPr>
        <p:blipFill rotWithShape="1">
          <a:blip r:embed="rId7">
            <a:alphaModFix/>
          </a:blip>
          <a:srcRect b="95000" l="0" r="0" t="0"/>
          <a:stretch/>
        </p:blipFill>
        <p:spPr>
          <a:xfrm>
            <a:off x="0" y="0"/>
            <a:ext cx="91440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925" y="3437875"/>
            <a:ext cx="4000500" cy="154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4714925" y="3393079"/>
            <a:ext cx="4000500" cy="15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A234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9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Previous question and answer pairs stored in a history buffer after each turn. Last 2-3 QA pairs appended to the current question before retrieval.  Allows follow-up questions like "what about the penalty for that?" to work correctly without re-explaining context.                                                                                   No extra model needed — just a growing list maintained across the session.</a:t>
            </a:r>
            <a:endParaRPr sz="9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4820104" y="3592569"/>
            <a:ext cx="373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Stage </a:t>
            </a:r>
            <a:r>
              <a:rPr b="1" lang="en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4</a:t>
            </a:r>
            <a:r>
              <a:rPr b="1" lang="en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: Conversation Memory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875" y="1453753"/>
            <a:ext cx="4000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282204"/>
            <a:ext cx="4000500" cy="48912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Retrieval Module: TF-IDF &amp; Cosine</a:t>
            </a:r>
            <a:endParaRPr sz="1100"/>
          </a:p>
        </p:txBody>
      </p:sp>
      <p:sp>
        <p:nvSpPr>
          <p:cNvPr id="197" name="Google Shape;197;p24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8625" y="1727894"/>
            <a:ext cx="40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 avoid processing 100 pages for every question, we use a lightweight retrieval mechanism:</a:t>
            </a:r>
            <a:endParaRPr sz="1100"/>
          </a:p>
        </p:txBody>
      </p:sp>
      <p:pic>
        <p:nvPicPr>
          <p:cNvPr descr="image.png" id="199" name="Google Shape;19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4875" y="1453753"/>
            <a:ext cx="4000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58603" y="2425079"/>
            <a:ext cx="1140432" cy="20337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4"/>
          <p:cNvSpPr txBox="1"/>
          <p:nvPr/>
        </p:nvSpPr>
        <p:spPr>
          <a:xfrm>
            <a:off x="714375" y="2914203"/>
            <a:ext cx="371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Interpretable: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No "black-box" vector embeddings.</a:t>
            </a:r>
            <a:endParaRPr sz="1100"/>
          </a:p>
        </p:txBody>
      </p:sp>
      <p:sp>
        <p:nvSpPr>
          <p:cNvPr id="202" name="Google Shape;202;p24"/>
          <p:cNvSpPr txBox="1"/>
          <p:nvPr/>
        </p:nvSpPr>
        <p:spPr>
          <a:xfrm>
            <a:off x="714375" y="3262796"/>
            <a:ext cx="371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Fast: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Low latency even with thousands of document chunks.</a:t>
            </a:r>
            <a:endParaRPr sz="1100"/>
          </a:p>
        </p:txBody>
      </p:sp>
      <p:sp>
        <p:nvSpPr>
          <p:cNvPr id="203" name="Google Shape;203;p24"/>
          <p:cNvSpPr txBox="1"/>
          <p:nvPr/>
        </p:nvSpPr>
        <p:spPr>
          <a:xfrm>
            <a:off x="714375" y="3611389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Grounded: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Forces the model to only look at text present in the document.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4875" y="1453753"/>
            <a:ext cx="4000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Extractive QA Model Design</a:t>
            </a:r>
            <a:endParaRPr sz="1100"/>
          </a:p>
        </p:txBody>
      </p:sp>
      <p:sp>
        <p:nvSpPr>
          <p:cNvPr id="211" name="Google Shape;211;p25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875" y="1453753"/>
            <a:ext cx="4000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/>
        </p:nvSpPr>
        <p:spPr>
          <a:xfrm>
            <a:off x="1000125" y="1728118"/>
            <a:ext cx="342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Input Encoding: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Concatenation of [Question] and [Context] tokens into a joint BiLSTM encoder.</a:t>
            </a:r>
            <a:endParaRPr sz="1100"/>
          </a:p>
        </p:txBody>
      </p:sp>
      <p:sp>
        <p:nvSpPr>
          <p:cNvPr id="214" name="Google Shape;214;p25"/>
          <p:cNvSpPr txBox="1"/>
          <p:nvPr/>
        </p:nvSpPr>
        <p:spPr>
          <a:xfrm>
            <a:off x="1000125" y="2282428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Span Prediction: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Two output layers calculate probabilities for each token being the </a:t>
            </a:r>
            <a:r>
              <a:rPr b="0" i="1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Start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or </a:t>
            </a:r>
            <a:r>
              <a:rPr b="0" i="1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End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of the answer.</a:t>
            </a:r>
            <a:endParaRPr sz="1100"/>
          </a:p>
        </p:txBody>
      </p:sp>
      <p:sp>
        <p:nvSpPr>
          <p:cNvPr id="215" name="Google Shape;215;p25"/>
          <p:cNvSpPr txBox="1"/>
          <p:nvPr/>
        </p:nvSpPr>
        <p:spPr>
          <a:xfrm>
            <a:off x="1000125" y="3042456"/>
            <a:ext cx="342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Zero Hallucination: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By design, the model cannot invent facts; it can only select existing text.</a:t>
            </a:r>
            <a:endParaRPr sz="1100"/>
          </a:p>
        </p:txBody>
      </p:sp>
      <p:sp>
        <p:nvSpPr>
          <p:cNvPr id="216" name="Google Shape;216;p25"/>
          <p:cNvSpPr txBox="1"/>
          <p:nvPr/>
        </p:nvSpPr>
        <p:spPr>
          <a:xfrm>
            <a:off x="1000125" y="3596766"/>
            <a:ext cx="342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0A2342"/>
                </a:solidFill>
                <a:latin typeface="DM Sans"/>
                <a:ea typeface="DM Sans"/>
                <a:cs typeface="DM Sans"/>
                <a:sym typeface="DM Sans"/>
              </a:rPr>
              <a:t>Efficiency: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Lightweight architecture suitable for deployment on standard CPU servers.</a:t>
            </a:r>
            <a:endParaRPr sz="1100"/>
          </a:p>
        </p:txBody>
      </p:sp>
      <p:pic>
        <p:nvPicPr>
          <p:cNvPr descr="image.png" id="217" name="Google Shape;21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4375" y="1760264"/>
            <a:ext cx="107156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2314575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4375" y="3074603"/>
            <a:ext cx="142875" cy="150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375" y="3628913"/>
            <a:ext cx="142875" cy="150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 Strategy and Metrics</a:t>
            </a:r>
            <a:endParaRPr sz="1100"/>
          </a:p>
        </p:txBody>
      </p:sp>
      <p:sp>
        <p:nvSpPr>
          <p:cNvPr id="227" name="Google Shape;227;p26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" name="Google Shape;228;p26"/>
          <p:cNvGraphicFramePr/>
          <p:nvPr/>
        </p:nvGraphicFramePr>
        <p:xfrm>
          <a:off x="428625" y="18180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{A079F0BF-7ABB-47FC-AF29-906C8C5E214F}</a:tableStyleId>
              </a:tblPr>
              <a:tblGrid>
                <a:gridCol w="1496600"/>
                <a:gridCol w="1861725"/>
                <a:gridCol w="1724900"/>
                <a:gridCol w="3203525"/>
              </a:tblGrid>
              <a:tr h="42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Primary Metric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Secondary Metric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Goal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</a:tr>
              <a:tr h="42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Summarization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ROUGE-1 / ROUGE-L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Compression Ratio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Informational overlap and brevity.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Retrieval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Precision @ K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MRR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Ensuring answer context is retrieved.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Extractive QA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Exact Match (EM)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F1-Score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10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Precision of span boundary prediction.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26"/>
          <p:cNvSpPr/>
          <p:nvPr/>
        </p:nvSpPr>
        <p:spPr>
          <a:xfrm>
            <a:off x="428625" y="2654573"/>
            <a:ext cx="149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1925240" y="2654573"/>
            <a:ext cx="1861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3786968" y="2654573"/>
            <a:ext cx="17250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5511849" y="2654573"/>
            <a:ext cx="3203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428625" y="3081746"/>
            <a:ext cx="149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1925240" y="3081746"/>
            <a:ext cx="1861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3786968" y="3081746"/>
            <a:ext cx="17250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511849" y="3081746"/>
            <a:ext cx="3203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428625" y="3508920"/>
            <a:ext cx="149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1925240" y="3508920"/>
            <a:ext cx="1861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3786968" y="3508920"/>
            <a:ext cx="17250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5511849" y="3508920"/>
            <a:ext cx="3203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428625" y="3936095"/>
            <a:ext cx="1496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"/>
          <p:cNvSpPr/>
          <p:nvPr/>
        </p:nvSpPr>
        <p:spPr>
          <a:xfrm>
            <a:off x="1925240" y="3936095"/>
            <a:ext cx="1861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3786968" y="3936095"/>
            <a:ext cx="17250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5511849" y="3936095"/>
            <a:ext cx="32037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75" y="1223450"/>
            <a:ext cx="4000500" cy="181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4925" y="1223450"/>
            <a:ext cx="4000500" cy="181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571500" y="428625"/>
            <a:ext cx="855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0A2342"/>
                </a:solidFill>
                <a:latin typeface="Merriweather"/>
                <a:ea typeface="Merriweather"/>
                <a:cs typeface="Merriweather"/>
                <a:sym typeface="Merriweather"/>
              </a:rPr>
              <a:t>Challenges and Risk Mitigation</a:t>
            </a:r>
            <a:endParaRPr sz="1100"/>
          </a:p>
        </p:txBody>
      </p:sp>
      <p:sp>
        <p:nvSpPr>
          <p:cNvPr id="253" name="Google Shape;253;p27"/>
          <p:cNvSpPr/>
          <p:nvPr/>
        </p:nvSpPr>
        <p:spPr>
          <a:xfrm>
            <a:off x="428625" y="428625"/>
            <a:ext cx="42900" cy="335700"/>
          </a:xfrm>
          <a:prstGeom prst="rect">
            <a:avLst/>
          </a:prstGeom>
          <a:solidFill>
            <a:srgbClr val="CBA13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650081" y="1413140"/>
            <a:ext cx="355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Challenge: Training Instability (BiLSTM)</a:t>
            </a:r>
            <a:endParaRPr sz="1100"/>
          </a:p>
        </p:txBody>
      </p:sp>
      <p:sp>
        <p:nvSpPr>
          <p:cNvPr id="255" name="Google Shape;255;p27"/>
          <p:cNvSpPr txBox="1"/>
          <p:nvPr/>
        </p:nvSpPr>
        <p:spPr>
          <a:xfrm>
            <a:off x="650081" y="1769258"/>
            <a:ext cx="35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Deep BiLSTMs can suffer from vanishing or exploding gradients when trained on long legal sequences.</a:t>
            </a:r>
            <a:endParaRPr sz="1100"/>
          </a:p>
        </p:txBody>
      </p:sp>
      <p:sp>
        <p:nvSpPr>
          <p:cNvPr id="256" name="Google Shape;256;p27"/>
          <p:cNvSpPr txBox="1"/>
          <p:nvPr/>
        </p:nvSpPr>
        <p:spPr>
          <a:xfrm>
            <a:off x="650081" y="2371644"/>
            <a:ext cx="35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Gradient clipping, layer normalization, residual connections, and careful learning rate scheduling.</a:t>
            </a:r>
            <a:endParaRPr sz="1100"/>
          </a:p>
        </p:txBody>
      </p:sp>
      <p:sp>
        <p:nvSpPr>
          <p:cNvPr id="257" name="Google Shape;257;p27"/>
          <p:cNvSpPr txBox="1"/>
          <p:nvPr/>
        </p:nvSpPr>
        <p:spPr>
          <a:xfrm>
            <a:off x="4936331" y="1413140"/>
            <a:ext cx="355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Challenge:</a:t>
            </a:r>
            <a:r>
              <a:rPr b="1"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Long-Range Dependency Limitations </a:t>
            </a:r>
            <a:endParaRPr sz="1100"/>
          </a:p>
        </p:txBody>
      </p:sp>
      <p:sp>
        <p:nvSpPr>
          <p:cNvPr id="258" name="Google Shape;258;p27"/>
          <p:cNvSpPr txBox="1"/>
          <p:nvPr/>
        </p:nvSpPr>
        <p:spPr>
          <a:xfrm>
            <a:off x="4936331" y="1769245"/>
            <a:ext cx="35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Legal documents contain cross-references across distant clauses, which BiLSTMs may struggle to model effectively.</a:t>
            </a:r>
            <a:endParaRPr sz="1100"/>
          </a:p>
        </p:txBody>
      </p:sp>
      <p:sp>
        <p:nvSpPr>
          <p:cNvPr id="259" name="Google Shape;259;p27"/>
          <p:cNvSpPr txBox="1"/>
          <p:nvPr/>
        </p:nvSpPr>
        <p:spPr>
          <a:xfrm>
            <a:off x="4936331" y="2371644"/>
            <a:ext cx="35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Attention mechanisms and overlapping chunking to preserve contextual continuity.</a:t>
            </a:r>
            <a:endParaRPr sz="1100"/>
          </a:p>
        </p:txBody>
      </p:sp>
      <p:pic>
        <p:nvPicPr>
          <p:cNvPr descr="image.png" id="260" name="Google Shape;26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1750" y="3186975"/>
            <a:ext cx="3807675" cy="17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7"/>
          <p:cNvSpPr txBox="1"/>
          <p:nvPr/>
        </p:nvSpPr>
        <p:spPr>
          <a:xfrm>
            <a:off x="2705360" y="3342928"/>
            <a:ext cx="355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Challenge: </a:t>
            </a:r>
            <a:r>
              <a:rPr b="1"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Quadratic Memory Complexity (Transformer)</a:t>
            </a:r>
            <a:endParaRPr sz="1100"/>
          </a:p>
        </p:txBody>
      </p:sp>
      <p:sp>
        <p:nvSpPr>
          <p:cNvPr id="262" name="Google Shape;262;p27"/>
          <p:cNvSpPr txBox="1"/>
          <p:nvPr/>
        </p:nvSpPr>
        <p:spPr>
          <a:xfrm>
            <a:off x="2705360" y="3613441"/>
            <a:ext cx="355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Self-attention scales quadratically with sequence length, increasing memory and computation cost for long legal texts.</a:t>
            </a:r>
            <a:endParaRPr sz="1100"/>
          </a:p>
        </p:txBody>
      </p:sp>
      <p:sp>
        <p:nvSpPr>
          <p:cNvPr id="263" name="Google Shape;263;p27"/>
          <p:cNvSpPr txBox="1"/>
          <p:nvPr/>
        </p:nvSpPr>
        <p:spPr>
          <a:xfrm>
            <a:off x="2705356" y="4376571"/>
            <a:ext cx="355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b="0" i="0" lang="en" sz="10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Chunk-based processing (800–1200 tokens), small model configuration, and hierarchical summarization.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/>
        </p:nvSpPr>
        <p:spPr>
          <a:xfrm>
            <a:off x="250500" y="134025"/>
            <a:ext cx="83949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</a:rPr>
              <a:t>Datasets Used</a:t>
            </a:r>
            <a:endParaRPr sz="3900">
              <a:solidFill>
                <a:schemeClr val="dk2"/>
              </a:solidFill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250500" y="816225"/>
            <a:ext cx="8643000" cy="3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1️⃣ CUAD (Contract Understanding Atticus Dataset)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🔗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https://huggingface.co/datasets/theatticusproject/cuad</a:t>
            </a:r>
            <a:endParaRPr sz="1000" u="sng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Used to train: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Extractive QA model (question → answer span)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Simplification model (legal sentence → plain English, synthetic pairs)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2️⃣ MultiLexSum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🔗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6"/>
              </a:rPr>
              <a:t>https://huggingface.co/datasets/allenai/multi_lexsum</a:t>
            </a:r>
            <a:endParaRPr sz="1000" u="sng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Used to train: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Abstractive summarization model (legal document → summary)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3️⃣ BillSum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🔗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8"/>
              </a:rPr>
              <a:t>https://huggingface.co/datasets/FiscalNote/billsum</a:t>
            </a:r>
            <a:endParaRPr sz="1000" u="sng">
              <a:solidFill>
                <a:schemeClr val="hlink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Used to train: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Additional long-document summarization</a:t>
            </a:r>
            <a:endParaRPr sz="17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